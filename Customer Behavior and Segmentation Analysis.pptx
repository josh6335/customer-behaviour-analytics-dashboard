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4" r:id="rId5"/>
    <p:sldId id="302" r:id="rId6"/>
    <p:sldId id="294" r:id="rId7"/>
    <p:sldId id="330" r:id="rId8"/>
    <p:sldId id="327" r:id="rId9"/>
    <p:sldId id="328" r:id="rId10"/>
    <p:sldId id="329" r:id="rId11"/>
    <p:sldId id="325" r:id="rId12"/>
    <p:sldId id="310" r:id="rId13"/>
    <p:sldId id="33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7406"/>
    <a:srgbClr val="6988B7"/>
    <a:srgbClr val="F2F2F2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11/14/2025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11/14/2025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11/14/2025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67156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356" y="1828996"/>
            <a:ext cx="4253917" cy="3101592"/>
          </a:xfrm>
        </p:spPr>
        <p:txBody>
          <a:bodyPr/>
          <a:lstStyle/>
          <a:p>
            <a:pPr algn="ctr"/>
            <a:r>
              <a:rPr lang="en-US" sz="4400" dirty="0"/>
              <a:t>Customer Behavior and Segmentation Analysis 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224" y="260422"/>
            <a:ext cx="4275138" cy="830997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1456" y="1091420"/>
            <a:ext cx="8967697" cy="5336274"/>
          </a:xfrm>
        </p:spPr>
        <p:txBody>
          <a:bodyPr/>
          <a:lstStyle/>
          <a:p>
            <a:pPr algn="just"/>
            <a:r>
              <a:rPr lang="en-US" sz="1800" dirty="0"/>
              <a:t>To identify the most valuable customers by analyzing total spending, frequency of purchases, and recency of transactions.</a:t>
            </a:r>
          </a:p>
          <a:p>
            <a:pPr algn="just"/>
            <a:r>
              <a:rPr lang="en-US" sz="1800" dirty="0"/>
              <a:t>To uncover purchasing patterns and spending behavior across different customer segments.</a:t>
            </a:r>
          </a:p>
          <a:p>
            <a:pPr algn="just"/>
            <a:r>
              <a:rPr lang="en-US" sz="1800" dirty="0"/>
              <a:t>To calculate key customer metrics such as average order value, purchase frequency, and total revenue per customer.</a:t>
            </a:r>
          </a:p>
          <a:p>
            <a:pPr algn="just"/>
            <a:r>
              <a:rPr lang="en-US" sz="1800" dirty="0"/>
              <a:t>To perform customer segmentation using the RFM (Recency, Frequency, Monetary) model to distinguish high-value from low-value customers</a:t>
            </a:r>
          </a:p>
          <a:p>
            <a:pPr algn="just"/>
            <a:r>
              <a:rPr lang="en-US" sz="1800" dirty="0"/>
              <a:t>To generate geographic insights by identifying countries or regions that contribute the most to total sales</a:t>
            </a:r>
          </a:p>
          <a:p>
            <a:pPr algn="just"/>
            <a:r>
              <a:rPr lang="en-US" sz="1800" dirty="0"/>
              <a:t>To provide data-driven recommendations that can help the business improve customer retention, optimize marketing strategies, and boost revenue growth.</a:t>
            </a:r>
          </a:p>
        </p:txBody>
      </p:sp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>
          <a:xfrm>
            <a:off x="9095181" y="260422"/>
            <a:ext cx="2567901" cy="2469591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34847E-3689-4A01-A538-C697537C3323}"/>
              </a:ext>
            </a:extLst>
          </p:cNvPr>
          <p:cNvSpPr/>
          <p:nvPr/>
        </p:nvSpPr>
        <p:spPr>
          <a:xfrm>
            <a:off x="1444511" y="6427694"/>
            <a:ext cx="6861586" cy="2523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effectLst/>
                <a:ea typeface="Calibri" panose="020F0502020204030204" pitchFamily="34" charset="0"/>
              </a:rPr>
              <a:t>Customer Behavior and Segmentation Analysis </a:t>
            </a:r>
            <a:endParaRPr lang="en-US" sz="1200" dirty="0">
              <a:ln>
                <a:solidFill>
                  <a:schemeClr val="accent6"/>
                </a:soli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4F2E744-89EA-41DE-B895-2DC3AE769451}"/>
              </a:ext>
            </a:extLst>
          </p:cNvPr>
          <p:cNvSpPr txBox="1">
            <a:spLocks/>
          </p:cNvSpPr>
          <p:nvPr/>
        </p:nvSpPr>
        <p:spPr>
          <a:xfrm>
            <a:off x="391456" y="1091420"/>
            <a:ext cx="11475424" cy="5045220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Data Source: </a:t>
            </a:r>
            <a:r>
              <a:rPr lang="en-US" dirty="0"/>
              <a:t>Online Retail Dataset from Kaggle containing invoices, product details, quantities, prices, customer IDs, and countries.</a:t>
            </a:r>
          </a:p>
          <a:p>
            <a:pPr algn="just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Data Cleaning &amp; Preparation:  </a:t>
            </a:r>
            <a:r>
              <a:rPr lang="en-US" dirty="0"/>
              <a:t>Using power query, removed duplicates, missing values, and invalid transactions. Computed a new column, Total Amount (Quantity × Unit Price), to represent total transaction value.</a:t>
            </a:r>
          </a:p>
          <a:p>
            <a:pPr algn="just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Aggregated data by Customer ID to calculate three key behavioral indicators (Recency, Frequency, Monetary)</a:t>
            </a:r>
          </a:p>
          <a:p>
            <a:pPr algn="just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RFM Scoring and Segmentation: </a:t>
            </a:r>
            <a:r>
              <a:rPr lang="en-US" dirty="0"/>
              <a:t>Each metric (R, F, M) was scored on a scale and combined into an overall RFM score. Based on these scores, customers were segmented into distinct groups such as: Champions, Loyal Customers, Growing, Churning, and Inactive Customers.</a:t>
            </a:r>
          </a:p>
          <a:p>
            <a:pPr algn="just"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Visual:</a:t>
            </a:r>
            <a:r>
              <a:rPr lang="en-US" dirty="0"/>
              <a:t> Developed an interactive Power BI dashboard to visualize RFM segment and customer behavior. KPI cards and slicers were included to allow dynamic filtering and deeper exploration of customer patterns.</a:t>
            </a:r>
          </a:p>
        </p:txBody>
      </p:sp>
      <p:sp>
        <p:nvSpPr>
          <p:cNvPr id="13" name="Title 8">
            <a:extLst>
              <a:ext uri="{FF2B5EF4-FFF2-40B4-BE49-F238E27FC236}">
                <a16:creationId xmlns:a16="http://schemas.microsoft.com/office/drawing/2014/main" id="{F35CF667-946A-40EE-B496-1BAC365A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224" y="260422"/>
            <a:ext cx="6427096" cy="830997"/>
          </a:xfrm>
        </p:spPr>
        <p:txBody>
          <a:bodyPr/>
          <a:lstStyle/>
          <a:p>
            <a:pPr algn="l"/>
            <a:r>
              <a:rPr lang="en-US" dirty="0"/>
              <a:t>Analytical 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8C58C1-E17B-454D-8002-43FDA17EA87D}"/>
              </a:ext>
            </a:extLst>
          </p:cNvPr>
          <p:cNvSpPr/>
          <p:nvPr/>
        </p:nvSpPr>
        <p:spPr>
          <a:xfrm>
            <a:off x="1444511" y="6427694"/>
            <a:ext cx="6861586" cy="2523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effectLst/>
                <a:ea typeface="Calibri" panose="020F0502020204030204" pitchFamily="34" charset="0"/>
              </a:rPr>
              <a:t>Customer Behavior and Segmentation Analysis </a:t>
            </a:r>
            <a:endParaRPr lang="en-US" sz="1200" dirty="0">
              <a:ln>
                <a:solidFill>
                  <a:schemeClr val="accent6"/>
                </a:solidFill>
              </a:ln>
              <a:solidFill>
                <a:schemeClr val="accent2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1A05B9-72A1-469D-910B-D220254FA650}"/>
              </a:ext>
            </a:extLst>
          </p:cNvPr>
          <p:cNvGrpSpPr/>
          <p:nvPr/>
        </p:nvGrpSpPr>
        <p:grpSpPr>
          <a:xfrm>
            <a:off x="9834880" y="1750113"/>
            <a:ext cx="1574800" cy="4386527"/>
            <a:chOff x="9814560" y="1902513"/>
            <a:chExt cx="1574800" cy="438652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E8A144C-C167-4411-A73F-9B4883921A83}"/>
                </a:ext>
              </a:extLst>
            </p:cNvPr>
            <p:cNvSpPr/>
            <p:nvPr/>
          </p:nvSpPr>
          <p:spPr>
            <a:xfrm>
              <a:off x="9814560" y="5496560"/>
              <a:ext cx="660400" cy="5892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30CC3CE-6BC6-4EB0-9017-D6C5CAF36292}"/>
                </a:ext>
              </a:extLst>
            </p:cNvPr>
            <p:cNvSpPr/>
            <p:nvPr/>
          </p:nvSpPr>
          <p:spPr>
            <a:xfrm>
              <a:off x="10906798" y="1902513"/>
              <a:ext cx="482562" cy="50540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4EAE27-6522-4166-8822-B60FF948072B}"/>
                </a:ext>
              </a:extLst>
            </p:cNvPr>
            <p:cNvSpPr/>
            <p:nvPr/>
          </p:nvSpPr>
          <p:spPr>
            <a:xfrm>
              <a:off x="10322560" y="6136640"/>
              <a:ext cx="152400" cy="152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Escalators">
            <a:extLst>
              <a:ext uri="{FF2B5EF4-FFF2-40B4-BE49-F238E27FC236}">
                <a16:creationId xmlns:a16="http://schemas.microsoft.com/office/drawing/2014/main" id="{067ABCFB-135D-465A-8D06-3042F9E75B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60000"/>
          </a:blip>
          <a:srcRect t="6729" r="33992" b="40721"/>
          <a:stretch/>
        </p:blipFill>
        <p:spPr>
          <a:xfrm>
            <a:off x="15605" y="0"/>
            <a:ext cx="12192001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310966-9752-4035-9DD5-FFBC93FC0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D9E7E43-0082-4819-947F-94AD5664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8" y="2581181"/>
            <a:ext cx="3924934" cy="1695637"/>
          </a:xfrm>
        </p:spPr>
        <p:txBody>
          <a:bodyPr/>
          <a:lstStyle/>
          <a:p>
            <a:pPr rtl="0" eaLnBrk="1" latinLnBrk="0" hangingPunct="1"/>
            <a:r>
              <a:rPr lang="en-US" sz="6000" dirty="0"/>
              <a:t>Insights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F64F07-1F8D-4F69-87E4-03E837E9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8168" y="1181123"/>
            <a:ext cx="459924" cy="4599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393EC-C7F4-46AA-8768-FF7CD4DE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920" y="5840880"/>
            <a:ext cx="284372" cy="284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DDC29-DFE2-4F0C-9C81-DDBC9CD8D2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53754" y="3921892"/>
            <a:ext cx="3924934" cy="490538"/>
          </a:xfrm>
        </p:spPr>
        <p:txBody>
          <a:bodyPr/>
          <a:lstStyle/>
          <a:p>
            <a:r>
              <a:rPr lang="en-US" dirty="0"/>
              <a:t>Let’s dive in</a:t>
            </a:r>
          </a:p>
        </p:txBody>
      </p:sp>
    </p:spTree>
    <p:extLst>
      <p:ext uri="{BB962C8B-B14F-4D97-AF65-F5344CB8AC3E}">
        <p14:creationId xmlns:p14="http://schemas.microsoft.com/office/powerpoint/2010/main" val="3418887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56" y="238760"/>
            <a:ext cx="10698184" cy="852660"/>
          </a:xfrm>
        </p:spPr>
        <p:txBody>
          <a:bodyPr>
            <a:noAutofit/>
          </a:bodyPr>
          <a:lstStyle/>
          <a:p>
            <a:pPr marL="0" indent="0" algn="l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n-US" sz="4400" b="1" dirty="0"/>
              <a:t>Key Highlights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0B1B76C-A077-438A-BFF4-7674EE3D8B25}"/>
              </a:ext>
            </a:extLst>
          </p:cNvPr>
          <p:cNvSpPr txBox="1">
            <a:spLocks/>
          </p:cNvSpPr>
          <p:nvPr/>
        </p:nvSpPr>
        <p:spPr>
          <a:xfrm>
            <a:off x="391456" y="1411460"/>
            <a:ext cx="10398464" cy="4405140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Total Customers</a:t>
            </a:r>
            <a:r>
              <a:rPr lang="en-US" b="1"/>
              <a:t>:</a:t>
            </a:r>
            <a:r>
              <a:rPr lang="en-US"/>
              <a:t> 4.33k</a:t>
            </a:r>
            <a:endParaRPr lang="en-US" dirty="0"/>
          </a:p>
          <a:p>
            <a: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Total Revenue:</a:t>
            </a:r>
            <a:r>
              <a:rPr lang="en-US" dirty="0"/>
              <a:t> ₤8.74M</a:t>
            </a:r>
          </a:p>
          <a:p>
            <a: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Average Order Value:</a:t>
            </a:r>
            <a:r>
              <a:rPr lang="en-US" dirty="0"/>
              <a:t> ₤2.02K</a:t>
            </a:r>
          </a:p>
          <a:p>
            <a: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Average Recency:</a:t>
            </a:r>
            <a:r>
              <a:rPr lang="en-US" dirty="0"/>
              <a:t> 92.23 days</a:t>
            </a:r>
          </a:p>
          <a:p>
            <a: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b="1" dirty="0"/>
              <a:t>Average Frequency:</a:t>
            </a:r>
            <a:r>
              <a:rPr lang="en-US" dirty="0"/>
              <a:t> 4.25 orders</a:t>
            </a:r>
          </a:p>
          <a:p>
            <a: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/>
              <a:t>United Kingdom</a:t>
            </a:r>
            <a:r>
              <a:rPr lang="en-US" dirty="0"/>
              <a:t> is the largest revenue source, followed by </a:t>
            </a:r>
            <a:r>
              <a:rPr lang="en-US" b="1" dirty="0"/>
              <a:t>Netherlands</a:t>
            </a:r>
            <a:r>
              <a:rPr lang="en-US" dirty="0"/>
              <a:t> and </a:t>
            </a:r>
            <a:r>
              <a:rPr lang="en-US" b="1" dirty="0"/>
              <a:t>EIRE</a:t>
            </a:r>
            <a:r>
              <a:rPr lang="en-US" dirty="0"/>
              <a:t>, accounting for over 90% of total revenue.</a:t>
            </a:r>
          </a:p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endParaRPr lang="en-US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415B0A-DE9C-44EF-AE6E-E34E38FAE74E}"/>
              </a:ext>
            </a:extLst>
          </p:cNvPr>
          <p:cNvGrpSpPr/>
          <p:nvPr/>
        </p:nvGrpSpPr>
        <p:grpSpPr>
          <a:xfrm>
            <a:off x="9814560" y="1902513"/>
            <a:ext cx="1574800" cy="4386527"/>
            <a:chOff x="9814560" y="1902513"/>
            <a:chExt cx="1574800" cy="438652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81AE97A-07BD-45BA-9BCC-1AE20CAD7FA8}"/>
                </a:ext>
              </a:extLst>
            </p:cNvPr>
            <p:cNvSpPr/>
            <p:nvPr/>
          </p:nvSpPr>
          <p:spPr>
            <a:xfrm>
              <a:off x="9814560" y="5496560"/>
              <a:ext cx="660400" cy="58928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4EA4C44-5766-488E-A8DC-7A304C7969BA}"/>
                </a:ext>
              </a:extLst>
            </p:cNvPr>
            <p:cNvSpPr/>
            <p:nvPr/>
          </p:nvSpPr>
          <p:spPr>
            <a:xfrm>
              <a:off x="10906798" y="1902513"/>
              <a:ext cx="482562" cy="50540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4D897C-12EB-45DC-9391-432C71F1C26A}"/>
                </a:ext>
              </a:extLst>
            </p:cNvPr>
            <p:cNvSpPr/>
            <p:nvPr/>
          </p:nvSpPr>
          <p:spPr>
            <a:xfrm>
              <a:off x="10322560" y="6136640"/>
              <a:ext cx="152400" cy="152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3C3D5026-1C70-4227-A8C7-29D22666EFFB}"/>
              </a:ext>
            </a:extLst>
          </p:cNvPr>
          <p:cNvSpPr/>
          <p:nvPr/>
        </p:nvSpPr>
        <p:spPr>
          <a:xfrm>
            <a:off x="1444511" y="6427694"/>
            <a:ext cx="6861586" cy="2523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effectLst/>
                <a:ea typeface="Calibri" panose="020F0502020204030204" pitchFamily="34" charset="0"/>
              </a:rPr>
              <a:t>Customer Behavior and Segmentation Analysis </a:t>
            </a:r>
            <a:endParaRPr lang="en-US" sz="1200" dirty="0">
              <a:ln>
                <a:solidFill>
                  <a:schemeClr val="accent6"/>
                </a:soli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10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0B1B76C-A077-438A-BFF4-7674EE3D8B25}"/>
              </a:ext>
            </a:extLst>
          </p:cNvPr>
          <p:cNvSpPr txBox="1">
            <a:spLocks/>
          </p:cNvSpPr>
          <p:nvPr/>
        </p:nvSpPr>
        <p:spPr>
          <a:xfrm>
            <a:off x="493056" y="1476720"/>
            <a:ext cx="11409088" cy="4405140"/>
          </a:xfrm>
          <a:prstGeom prst="rect">
            <a:avLst/>
          </a:prstGeo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just"/>
            <a:r>
              <a:rPr lang="en-US" b="1" dirty="0"/>
              <a:t>Top customers </a:t>
            </a:r>
            <a:r>
              <a:rPr lang="en-US" dirty="0"/>
              <a:t>(6) generated ₤863.66K to total revenue, with an average order value of ₤143.94K, </a:t>
            </a:r>
            <a:r>
              <a:rPr lang="en-US" b="1" dirty="0"/>
              <a:t>the highest spending per customer among all segments</a:t>
            </a:r>
            <a:r>
              <a:rPr lang="en-US" dirty="0"/>
              <a:t>. They purchase frequently (average frequency 119.00) and exhibit strong brand commitment, representing the most profitable and consistent customer group.</a:t>
            </a:r>
          </a:p>
          <a:p>
            <a:pPr algn="just"/>
            <a:r>
              <a:rPr lang="en-US" b="1" dirty="0"/>
              <a:t>Loyal customers </a:t>
            </a:r>
            <a:r>
              <a:rPr lang="en-US" dirty="0"/>
              <a:t>(180) contributed ₤3.07M to total revenue, making them </a:t>
            </a:r>
            <a:r>
              <a:rPr lang="en-US" b="1" dirty="0"/>
              <a:t>the largest segment by spending volume</a:t>
            </a:r>
            <a:r>
              <a:rPr lang="en-US" dirty="0"/>
              <a:t>. They maintain a steady purchase frequency (23.17) and moderate recency (8.12), indicating regular engagement and repeat purchase behavior. </a:t>
            </a:r>
          </a:p>
          <a:p>
            <a:pPr algn="just"/>
            <a:r>
              <a:rPr lang="en-US" b="1" dirty="0"/>
              <a:t>Growing customers </a:t>
            </a:r>
            <a:r>
              <a:rPr lang="en-US" dirty="0"/>
              <a:t>(827) generated ₤2.26M to total revenue, with an average order value of ₤2.73K.They have a low average recency (14.10) and high frequency (7.22), suggesting they are actively increasing their purchase activity and can potentially transition into loyal customers with proper engagement.</a:t>
            </a:r>
          </a:p>
          <a:p>
            <a:pPr algn="just"/>
            <a:endParaRPr lang="en-US" dirty="0"/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CB8669DA-2BC0-4A21-AE5B-0065FE3E9255}"/>
              </a:ext>
            </a:extLst>
          </p:cNvPr>
          <p:cNvSpPr txBox="1">
            <a:spLocks/>
          </p:cNvSpPr>
          <p:nvPr/>
        </p:nvSpPr>
        <p:spPr>
          <a:xfrm>
            <a:off x="391456" y="238760"/>
            <a:ext cx="10698184" cy="85266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buClr>
                <a:schemeClr val="accent4"/>
              </a:buClr>
            </a:pPr>
            <a:r>
              <a:rPr lang="en-US" sz="4400" dirty="0"/>
              <a:t>Customer Segmentation Insights</a:t>
            </a:r>
          </a:p>
        </p:txBody>
      </p:sp>
      <p:pic>
        <p:nvPicPr>
          <p:cNvPr id="11" name="Picture Placeholder 3" descr="close up of building">
            <a:extLst>
              <a:ext uri="{FF2B5EF4-FFF2-40B4-BE49-F238E27FC236}">
                <a16:creationId xmlns:a16="http://schemas.microsoft.com/office/drawing/2014/main" id="{D93D3970-9615-45C5-85B7-F98848435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12" b="13712"/>
          <a:stretch>
            <a:fillRect/>
          </a:stretch>
        </p:blipFill>
        <p:spPr>
          <a:xfrm>
            <a:off x="9393238" y="0"/>
            <a:ext cx="2798762" cy="1354138"/>
          </a:xfrm>
          <a:custGeom>
            <a:avLst/>
            <a:gdLst>
              <a:gd name="connsiteX0" fmla="*/ 316595 w 2798762"/>
              <a:gd name="connsiteY0" fmla="*/ 369378 h 1635849"/>
              <a:gd name="connsiteX1" fmla="*/ 1152465 w 2798762"/>
              <a:gd name="connsiteY1" fmla="*/ 369378 h 1635849"/>
              <a:gd name="connsiteX2" fmla="*/ 1469083 w 2798762"/>
              <a:gd name="connsiteY2" fmla="*/ 1002614 h 1635849"/>
              <a:gd name="connsiteX3" fmla="*/ 1152465 w 2798762"/>
              <a:gd name="connsiteY3" fmla="*/ 1635849 h 1635849"/>
              <a:gd name="connsiteX4" fmla="*/ 316595 w 2798762"/>
              <a:gd name="connsiteY4" fmla="*/ 1635849 h 1635849"/>
              <a:gd name="connsiteX5" fmla="*/ 0 w 2798762"/>
              <a:gd name="connsiteY5" fmla="*/ 1002660 h 1635849"/>
              <a:gd name="connsiteX6" fmla="*/ 0 w 2798762"/>
              <a:gd name="connsiteY6" fmla="*/ 1002568 h 1635849"/>
              <a:gd name="connsiteX7" fmla="*/ 1193125 w 2798762"/>
              <a:gd name="connsiteY7" fmla="*/ 0 h 1635849"/>
              <a:gd name="connsiteX8" fmla="*/ 2798762 w 2798762"/>
              <a:gd name="connsiteY8" fmla="*/ 0 h 1635849"/>
              <a:gd name="connsiteX9" fmla="*/ 2798762 w 2798762"/>
              <a:gd name="connsiteY9" fmla="*/ 786966 h 1635849"/>
              <a:gd name="connsiteX10" fmla="*/ 2719777 w 2798762"/>
              <a:gd name="connsiteY10" fmla="*/ 944936 h 1635849"/>
              <a:gd name="connsiteX11" fmla="*/ 1582346 w 2798762"/>
              <a:gd name="connsiteY11" fmla="*/ 944936 h 1635849"/>
              <a:gd name="connsiteX12" fmla="*/ 1151501 w 2798762"/>
              <a:gd name="connsiteY12" fmla="*/ 83246 h 1635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98762" h="1635849">
                <a:moveTo>
                  <a:pt x="316595" y="369378"/>
                </a:moveTo>
                <a:lnTo>
                  <a:pt x="1152465" y="369378"/>
                </a:lnTo>
                <a:lnTo>
                  <a:pt x="1469083" y="1002614"/>
                </a:lnTo>
                <a:lnTo>
                  <a:pt x="1152465" y="1635849"/>
                </a:lnTo>
                <a:lnTo>
                  <a:pt x="316595" y="1635849"/>
                </a:lnTo>
                <a:lnTo>
                  <a:pt x="0" y="1002660"/>
                </a:lnTo>
                <a:lnTo>
                  <a:pt x="0" y="1002568"/>
                </a:lnTo>
                <a:close/>
                <a:moveTo>
                  <a:pt x="1193125" y="0"/>
                </a:moveTo>
                <a:lnTo>
                  <a:pt x="2798762" y="0"/>
                </a:lnTo>
                <a:lnTo>
                  <a:pt x="2798762" y="786966"/>
                </a:lnTo>
                <a:lnTo>
                  <a:pt x="2719777" y="944936"/>
                </a:lnTo>
                <a:lnTo>
                  <a:pt x="1582346" y="944936"/>
                </a:lnTo>
                <a:lnTo>
                  <a:pt x="1151501" y="83246"/>
                </a:lnTo>
                <a:close/>
              </a:path>
            </a:pathLst>
          </a:custGeom>
        </p:spPr>
      </p:pic>
      <p:sp>
        <p:nvSpPr>
          <p:cNvPr id="12" name="Hexagon 11">
            <a:extLst>
              <a:ext uri="{FF2B5EF4-FFF2-40B4-BE49-F238E27FC236}">
                <a16:creationId xmlns:a16="http://schemas.microsoft.com/office/drawing/2014/main" id="{165D6619-C5F7-43D9-8979-03E92B1C65A8}"/>
              </a:ext>
            </a:extLst>
          </p:cNvPr>
          <p:cNvSpPr/>
          <p:nvPr/>
        </p:nvSpPr>
        <p:spPr>
          <a:xfrm>
            <a:off x="10698480" y="787672"/>
            <a:ext cx="1000464" cy="852660"/>
          </a:xfrm>
          <a:prstGeom prst="hexagon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EA9038-C8A5-45B2-80B4-AB1135EF3B22}"/>
              </a:ext>
            </a:extLst>
          </p:cNvPr>
          <p:cNvSpPr/>
          <p:nvPr/>
        </p:nvSpPr>
        <p:spPr>
          <a:xfrm>
            <a:off x="1444511" y="6427694"/>
            <a:ext cx="6861586" cy="2523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effectLst/>
                <a:ea typeface="Calibri" panose="020F0502020204030204" pitchFamily="34" charset="0"/>
              </a:rPr>
              <a:t>Customer Behavior and Segmentation Analysis </a:t>
            </a:r>
            <a:endParaRPr lang="en-US" sz="1200" dirty="0">
              <a:ln>
                <a:solidFill>
                  <a:schemeClr val="accent6"/>
                </a:soli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277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0B1B76C-A077-438A-BFF4-7674EE3D8B25}"/>
              </a:ext>
            </a:extLst>
          </p:cNvPr>
          <p:cNvSpPr txBox="1">
            <a:spLocks/>
          </p:cNvSpPr>
          <p:nvPr/>
        </p:nvSpPr>
        <p:spPr>
          <a:xfrm>
            <a:off x="493056" y="1476719"/>
            <a:ext cx="11409088" cy="4882407"/>
          </a:xfrm>
          <a:prstGeom prst="rect">
            <a:avLst/>
          </a:prstGeo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just"/>
            <a:r>
              <a:rPr lang="en-US" b="1" dirty="0"/>
              <a:t>Churning customers </a:t>
            </a:r>
            <a:r>
              <a:rPr lang="en-US" dirty="0"/>
              <a:t>(2k) generated ₤1.71M to total revenue, with a relatively low order value of ₤1.05K. Their recency score (38.60) indicates they haven’t purchased recently, and their average frequency (2.89) is declining. </a:t>
            </a:r>
          </a:p>
          <a:p>
            <a:pPr algn="just"/>
            <a:r>
              <a:rPr lang="en-US" b="1" dirty="0"/>
              <a:t>Inactive customers </a:t>
            </a:r>
            <a:r>
              <a:rPr lang="en-US" dirty="0"/>
              <a:t>(2k) have the lowest contribution. ₤830.99K in spending and ₤490.55 average order value. They exhibit very high recency (191.13) and low frequency (1.68), confirming prolonged disengagement.</a:t>
            </a:r>
          </a:p>
          <a:p>
            <a:pPr algn="just"/>
            <a:r>
              <a:rPr lang="en-US" dirty="0"/>
              <a:t>Overall, the customer segmentation highlights a strong correlation between purchase frequency and revenue contribution. </a:t>
            </a:r>
            <a:r>
              <a:rPr lang="en-US" b="1" dirty="0"/>
              <a:t>Loyal and growing customers form the backbone of total revenue,</a:t>
            </a:r>
            <a:r>
              <a:rPr lang="en-US" dirty="0"/>
              <a:t> while churning and inactive groups reveal opportunities for reactivation and retention-focused strategies.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CB8669DA-2BC0-4A21-AE5B-0065FE3E9255}"/>
              </a:ext>
            </a:extLst>
          </p:cNvPr>
          <p:cNvSpPr txBox="1">
            <a:spLocks/>
          </p:cNvSpPr>
          <p:nvPr/>
        </p:nvSpPr>
        <p:spPr>
          <a:xfrm>
            <a:off x="391456" y="238760"/>
            <a:ext cx="10698184" cy="85266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  <a:buClr>
                <a:schemeClr val="accent4"/>
              </a:buClr>
            </a:pPr>
            <a:r>
              <a:rPr lang="en-US" sz="4400" dirty="0"/>
              <a:t>Customer Segmentation Insights</a:t>
            </a:r>
          </a:p>
        </p:txBody>
      </p:sp>
      <p:pic>
        <p:nvPicPr>
          <p:cNvPr id="8" name="Picture Placeholder 8">
            <a:extLst>
              <a:ext uri="{FF2B5EF4-FFF2-40B4-BE49-F238E27FC236}">
                <a16:creationId xmlns:a16="http://schemas.microsoft.com/office/drawing/2014/main" id="{E7AA0718-B02C-4BE6-97CE-C5A2E5F310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2" r="17082"/>
          <a:stretch/>
        </p:blipFill>
        <p:spPr>
          <a:xfrm>
            <a:off x="8153718" y="4363062"/>
            <a:ext cx="2351722" cy="2381363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8E0D92D-8218-4204-88EC-F725942B3655}"/>
              </a:ext>
            </a:extLst>
          </p:cNvPr>
          <p:cNvSpPr/>
          <p:nvPr/>
        </p:nvSpPr>
        <p:spPr>
          <a:xfrm>
            <a:off x="1444511" y="6427694"/>
            <a:ext cx="6861586" cy="2523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effectLst/>
                <a:ea typeface="Calibri" panose="020F0502020204030204" pitchFamily="34" charset="0"/>
              </a:rPr>
              <a:t>Customer Behavior and Segmentation Analysis </a:t>
            </a:r>
            <a:endParaRPr lang="en-US" sz="1200" dirty="0">
              <a:ln>
                <a:solidFill>
                  <a:schemeClr val="accent6"/>
                </a:soli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470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Escalators">
            <a:extLst>
              <a:ext uri="{FF2B5EF4-FFF2-40B4-BE49-F238E27FC236}">
                <a16:creationId xmlns:a16="http://schemas.microsoft.com/office/drawing/2014/main" id="{067ABCFB-135D-465A-8D06-3042F9E75B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60000"/>
          </a:blip>
          <a:srcRect t="6729" r="33992" b="40721"/>
          <a:stretch/>
        </p:blipFill>
        <p:spPr>
          <a:xfrm>
            <a:off x="15605" y="0"/>
            <a:ext cx="12192001" cy="6858000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310966-9752-4035-9DD5-FFBC93FC0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98240" y="1181123"/>
            <a:ext cx="477520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D9E7E43-0082-4819-947F-94AD5664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360" y="1962123"/>
            <a:ext cx="4602480" cy="1726488"/>
          </a:xfrm>
        </p:spPr>
        <p:txBody>
          <a:bodyPr/>
          <a:lstStyle/>
          <a:p>
            <a:pPr rtl="0" eaLnBrk="1" latinLnBrk="0" hangingPunct="1"/>
            <a:r>
              <a:rPr lang="en-US" sz="6600" dirty="0"/>
              <a:t>Recommendations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F64F07-1F8D-4F69-87E4-03E837E9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8168" y="1181123"/>
            <a:ext cx="459924" cy="4599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0393EC-C7F4-46AA-8768-FF7CD4DE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920" y="5840880"/>
            <a:ext cx="284372" cy="284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6DDC29-DFE2-4F0C-9C81-DDBC9CD8D2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49138" y="4224342"/>
            <a:ext cx="3924934" cy="490538"/>
          </a:xfrm>
        </p:spPr>
        <p:txBody>
          <a:bodyPr/>
          <a:lstStyle/>
          <a:p>
            <a:r>
              <a:rPr lang="en-US" dirty="0"/>
              <a:t>What next???</a:t>
            </a:r>
          </a:p>
        </p:txBody>
      </p:sp>
    </p:spTree>
    <p:extLst>
      <p:ext uri="{BB962C8B-B14F-4D97-AF65-F5344CB8AC3E}">
        <p14:creationId xmlns:p14="http://schemas.microsoft.com/office/powerpoint/2010/main" val="1110251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B43125FE-4923-4B38-ADD6-3F547696AB1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9261475" y="0"/>
            <a:ext cx="2930525" cy="1560513"/>
          </a:xfrm>
        </p:spPr>
      </p:pic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9EEAC83-9D94-44DF-9E91-CABB1B03CB04}"/>
              </a:ext>
            </a:extLst>
          </p:cNvPr>
          <p:cNvSpPr txBox="1">
            <a:spLocks/>
          </p:cNvSpPr>
          <p:nvPr/>
        </p:nvSpPr>
        <p:spPr>
          <a:xfrm>
            <a:off x="462576" y="541999"/>
            <a:ext cx="11409088" cy="5767361"/>
          </a:xfrm>
          <a:prstGeom prst="rect">
            <a:avLst/>
          </a:prstGeo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indent="0" algn="just">
              <a:buNone/>
            </a:pPr>
            <a:r>
              <a:rPr lang="en-US" b="1" dirty="0"/>
              <a:t>🟡 Top Customers</a:t>
            </a:r>
          </a:p>
          <a:p>
            <a:pPr algn="just"/>
            <a:r>
              <a:rPr lang="en-US" dirty="0"/>
              <a:t>Maintain engagement through </a:t>
            </a:r>
            <a:r>
              <a:rPr lang="en-US" b="1" dirty="0"/>
              <a:t>exclusive rewards </a:t>
            </a:r>
            <a:r>
              <a:rPr lang="en-US" dirty="0"/>
              <a:t>and early access to offers.</a:t>
            </a:r>
          </a:p>
          <a:p>
            <a:pPr algn="just"/>
            <a:r>
              <a:rPr lang="en-US" dirty="0"/>
              <a:t>Personalize communication and incentives to reinforce their high-value relationship.</a:t>
            </a:r>
          </a:p>
          <a:p>
            <a:pPr algn="just"/>
            <a:r>
              <a:rPr lang="en-US" dirty="0"/>
              <a:t>Encourage referrals or brand advocacy programs to leverage their loyalty.</a:t>
            </a:r>
          </a:p>
          <a:p>
            <a:pPr marL="0" indent="0">
              <a:buNone/>
            </a:pPr>
            <a:r>
              <a:rPr lang="en-US" b="1" dirty="0"/>
              <a:t>🟢 Loyal Customers</a:t>
            </a:r>
          </a:p>
          <a:p>
            <a:r>
              <a:rPr lang="en-US" dirty="0"/>
              <a:t>Introduce </a:t>
            </a:r>
            <a:r>
              <a:rPr lang="en-US" b="1" dirty="0"/>
              <a:t>tier-based loyalty programs</a:t>
            </a:r>
            <a:r>
              <a:rPr lang="en-US" dirty="0"/>
              <a:t> to sustain retention and reward long-term engagement.</a:t>
            </a:r>
          </a:p>
          <a:p>
            <a:r>
              <a:rPr lang="en-US" dirty="0"/>
              <a:t>Offer </a:t>
            </a:r>
            <a:r>
              <a:rPr lang="en-US" b="1" dirty="0"/>
              <a:t>cross-selling and upselling opportunities</a:t>
            </a:r>
            <a:r>
              <a:rPr lang="en-US" dirty="0"/>
              <a:t> using data on their purchase patterns.</a:t>
            </a:r>
          </a:p>
          <a:p>
            <a:r>
              <a:rPr lang="en-US" dirty="0"/>
              <a:t>Maintain consistent communication through newsletters or appreciation events.</a:t>
            </a:r>
          </a:p>
          <a:p>
            <a:pPr marL="0" indent="0">
              <a:buNone/>
            </a:pPr>
            <a:r>
              <a:rPr lang="en-US" b="1" dirty="0"/>
              <a:t>🟣 Growing Customers</a:t>
            </a:r>
          </a:p>
          <a:p>
            <a:r>
              <a:rPr lang="en-US" dirty="0"/>
              <a:t>Implement </a:t>
            </a:r>
            <a:r>
              <a:rPr lang="en-US" b="1" dirty="0"/>
              <a:t>targeted promotions or discounts</a:t>
            </a:r>
            <a:r>
              <a:rPr lang="en-US" dirty="0"/>
              <a:t> to encourage continued spending and accelerate movement into the loyal segment.</a:t>
            </a:r>
          </a:p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2C7C7A-ADB9-4C9D-A4BC-6366CAD6D02E}"/>
              </a:ext>
            </a:extLst>
          </p:cNvPr>
          <p:cNvSpPr/>
          <p:nvPr/>
        </p:nvSpPr>
        <p:spPr>
          <a:xfrm>
            <a:off x="1444511" y="6427694"/>
            <a:ext cx="6861586" cy="2523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effectLst/>
                <a:ea typeface="Calibri" panose="020F0502020204030204" pitchFamily="34" charset="0"/>
              </a:rPr>
              <a:t>Customer Behavior and Segmentation Analysis </a:t>
            </a:r>
            <a:endParaRPr lang="en-US" sz="1200" dirty="0">
              <a:ln>
                <a:solidFill>
                  <a:schemeClr val="accent6"/>
                </a:soli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378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Placeholder 4" descr="close up of building">
            <a:extLst>
              <a:ext uri="{FF2B5EF4-FFF2-40B4-BE49-F238E27FC236}">
                <a16:creationId xmlns:a16="http://schemas.microsoft.com/office/drawing/2014/main" id="{B43125FE-4923-4B38-ADD6-3F547696AB1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2"/>
          <a:srcRect t="10082" b="10082"/>
          <a:stretch/>
        </p:blipFill>
        <p:spPr>
          <a:xfrm>
            <a:off x="8672195" y="2976880"/>
            <a:ext cx="2930525" cy="1560513"/>
          </a:xfrm>
        </p:spPr>
      </p:pic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9EEAC83-9D94-44DF-9E91-CABB1B03CB04}"/>
              </a:ext>
            </a:extLst>
          </p:cNvPr>
          <p:cNvSpPr txBox="1">
            <a:spLocks/>
          </p:cNvSpPr>
          <p:nvPr/>
        </p:nvSpPr>
        <p:spPr>
          <a:xfrm>
            <a:off x="462576" y="541999"/>
            <a:ext cx="11409088" cy="5767361"/>
          </a:xfrm>
          <a:prstGeom prst="rect">
            <a:avLst/>
          </a:prstGeom>
        </p:spPr>
        <p:txBody>
          <a:bodyPr/>
          <a:lstStyle>
            <a:lvl1pPr marL="266700" indent="-266700">
              <a:lnSpc>
                <a:spcPct val="15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2925" indent="-276225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8096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0763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343025" indent="-266700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just"/>
            <a:r>
              <a:rPr lang="en-US" dirty="0"/>
              <a:t>Use behavioral triggers (e.g., frequent small purchases) to design timely follow-up campaigns.</a:t>
            </a:r>
          </a:p>
          <a:p>
            <a:pPr algn="just"/>
            <a:r>
              <a:rPr lang="en-US" dirty="0"/>
              <a:t>Provide personalized recommendations based on purchase history to strengthen their growth trajectory.</a:t>
            </a:r>
          </a:p>
          <a:p>
            <a:pPr marL="0" indent="0" algn="just">
              <a:buNone/>
            </a:pPr>
            <a:r>
              <a:rPr lang="en-US" b="1" dirty="0"/>
              <a:t>⚫ Churning Customers</a:t>
            </a:r>
          </a:p>
          <a:p>
            <a:pPr algn="just"/>
            <a:r>
              <a:rPr lang="en-US" dirty="0"/>
              <a:t>Deploy </a:t>
            </a:r>
            <a:r>
              <a:rPr lang="en-US" b="1" dirty="0"/>
              <a:t>re-engagement campaigns</a:t>
            </a:r>
            <a:r>
              <a:rPr lang="en-US" dirty="0"/>
              <a:t> (emails, reminders, or limited-time offers) to bring them back.</a:t>
            </a:r>
          </a:p>
          <a:p>
            <a:pPr algn="just"/>
            <a:r>
              <a:rPr lang="en-US" dirty="0"/>
              <a:t>Conduct </a:t>
            </a:r>
            <a:r>
              <a:rPr lang="en-US" b="1" dirty="0"/>
              <a:t>feedback surveys</a:t>
            </a:r>
            <a:r>
              <a:rPr lang="en-US" dirty="0"/>
              <a:t> to understand reasons for disengagement.</a:t>
            </a:r>
          </a:p>
          <a:p>
            <a:pPr algn="just"/>
            <a:r>
              <a:rPr lang="en-US" dirty="0"/>
              <a:t>Reassess pricing, communication frequency, or product appeal for this group</a:t>
            </a:r>
          </a:p>
          <a:p>
            <a:pPr marL="0" indent="0" algn="just">
              <a:buNone/>
            </a:pPr>
            <a:r>
              <a:rPr lang="en-US" b="1" dirty="0"/>
              <a:t>🔴 Inactive Customers</a:t>
            </a:r>
          </a:p>
          <a:p>
            <a:pPr algn="just"/>
            <a:r>
              <a:rPr lang="en-US" dirty="0"/>
              <a:t>Launch </a:t>
            </a:r>
            <a:r>
              <a:rPr lang="en-US" b="1" dirty="0"/>
              <a:t>win-back campaigns</a:t>
            </a:r>
            <a:r>
              <a:rPr lang="en-US" dirty="0"/>
              <a:t> with strong incentives like discounts or free shipping.</a:t>
            </a:r>
          </a:p>
          <a:p>
            <a:pPr algn="just"/>
            <a:r>
              <a:rPr lang="en-US" dirty="0"/>
              <a:t>Use </a:t>
            </a:r>
            <a:r>
              <a:rPr lang="en-US" b="1" dirty="0"/>
              <a:t>targeted advertising</a:t>
            </a:r>
            <a:r>
              <a:rPr lang="en-US" dirty="0"/>
              <a:t> to remind them of new products or updates.</a:t>
            </a:r>
          </a:p>
          <a:p>
            <a:pPr algn="just"/>
            <a:r>
              <a:rPr lang="en-US" dirty="0"/>
              <a:t>Consider </a:t>
            </a:r>
            <a:r>
              <a:rPr lang="en-US" b="1" dirty="0"/>
              <a:t>resource reallocation</a:t>
            </a:r>
            <a:r>
              <a:rPr lang="en-US" dirty="0"/>
              <a:t> if reactivation efforts prove unprofitable.</a:t>
            </a:r>
          </a:p>
          <a:p>
            <a:pPr algn="just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B5BB852-1246-4512-8073-7C5C5A038501}"/>
              </a:ext>
            </a:extLst>
          </p:cNvPr>
          <p:cNvSpPr/>
          <p:nvPr/>
        </p:nvSpPr>
        <p:spPr>
          <a:xfrm>
            <a:off x="589280" y="1757680"/>
            <a:ext cx="254000" cy="2540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C39F26-9B25-4418-B06F-4E68A339EC96}"/>
              </a:ext>
            </a:extLst>
          </p:cNvPr>
          <p:cNvSpPr/>
          <p:nvPr/>
        </p:nvSpPr>
        <p:spPr>
          <a:xfrm>
            <a:off x="1444511" y="6427694"/>
            <a:ext cx="6861586" cy="252354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2"/>
                </a:solidFill>
                <a:effectLst/>
                <a:ea typeface="Calibri" panose="020F0502020204030204" pitchFamily="34" charset="0"/>
              </a:rPr>
              <a:t>Customer Behavior and Segmentation Analysis </a:t>
            </a:r>
            <a:endParaRPr lang="en-US" sz="1200" dirty="0">
              <a:ln>
                <a:solidFill>
                  <a:schemeClr val="accent6"/>
                </a:solidFill>
              </a:ln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663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305</TotalTime>
  <Words>862</Words>
  <Application>Microsoft Office PowerPoint</Application>
  <PresentationFormat>Widescreen</PresentationFormat>
  <Paragraphs>62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Corbel</vt:lpstr>
      <vt:lpstr>Wingdings</vt:lpstr>
      <vt:lpstr>Office Theme</vt:lpstr>
      <vt:lpstr>Customer Behavior and Segmentation Analysis </vt:lpstr>
      <vt:lpstr>Objectives</vt:lpstr>
      <vt:lpstr>Analytical Process</vt:lpstr>
      <vt:lpstr>Insights</vt:lpstr>
      <vt:lpstr>Key Highlights</vt:lpstr>
      <vt:lpstr>PowerPoint Presentation</vt:lpstr>
      <vt:lpstr>PowerPoint Presentation</vt:lpstr>
      <vt:lpstr>Recommendations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Behavior and Segmentation Analysis</dc:title>
  <dc:creator>joshua Musediku</dc:creator>
  <cp:lastModifiedBy>joshua Musediku</cp:lastModifiedBy>
  <cp:revision>19</cp:revision>
  <dcterms:created xsi:type="dcterms:W3CDTF">2025-10-24T03:40:37Z</dcterms:created>
  <dcterms:modified xsi:type="dcterms:W3CDTF">2025-11-14T06:23:02Z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